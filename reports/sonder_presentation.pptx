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3369564" y="2135125"/>
            <a:ext cx="1088136" cy="704088"/>
          </a:xfrm>
          <a:prstGeom prst="rtTriangle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01569" y="2775203"/>
            <a:ext cx="1088136" cy="704088"/>
          </a:xfrm>
          <a:prstGeom prst="rtTriangle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425696" y="2333549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700" b="0" i="1">
                <a:solidFill>
                  <a:srgbClr val="F4EDE0"/>
                </a:solidFill>
                <a:latin typeface="Georgia"/>
              </a:rPr>
              <a:t>Sonder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109441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1">
                <a:solidFill>
                  <a:srgbClr val="F4EDE0"/>
                </a:solidFill>
                <a:latin typeface="Georgia"/>
              </a:rPr>
              <a:t>Trip planning, finally built for who you 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A9A08D"/>
                </a:solidFill>
                <a:latin typeface="Helvetica"/>
              </a:rPr>
              <a:t>A GenAI travel-planning and co-traveller-matching system.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440680"/>
            <a:ext cx="1371600" cy="12700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60">
                <a:solidFill>
                  <a:srgbClr val="D4B686"/>
                </a:solidFill>
                <a:latin typeface="Helvetica"/>
              </a:rPr>
              <a:t>PRODUCT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SONDER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01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868680"/>
            <a:ext cx="73152" cy="73152"/>
          </a:xfrm>
          <a:prstGeom prst="ellipse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8412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320">
                <a:solidFill>
                  <a:srgbClr val="D4B686"/>
                </a:solidFill>
                <a:latin typeface="Helvetica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 i="1">
                <a:solidFill>
                  <a:srgbClr val="F4EDE0"/>
                </a:solidFill>
                <a:latin typeface="Georgia"/>
              </a:rPr>
              <a:t>Every existing platform optimises for the wrong 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1828800" cy="12700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889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TripAdvisor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788920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Surfaces what coach tours stop at. Top three things in any city become the same three things on every list.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39312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50215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Google Travel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502152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Knows your budget but not your mood.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52544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21538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Instagram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215384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Knows your mood but not whether the place is closed on Tuesdays.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65776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92861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Airbnb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928616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Solves where you sleep and stops there.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779008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64184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All of them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641848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Nobody solves the harder problem of who you travel with.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SONDER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868680"/>
            <a:ext cx="73152" cy="73152"/>
          </a:xfrm>
          <a:prstGeom prst="ellipse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8412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320">
                <a:solidFill>
                  <a:srgbClr val="D4B686"/>
                </a:solidFill>
                <a:latin typeface="Helvetica"/>
              </a:rPr>
              <a:t>WHAT SONDER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 i="1">
                <a:solidFill>
                  <a:srgbClr val="F4EDE0"/>
                </a:solidFill>
                <a:latin typeface="Georgia"/>
              </a:rPr>
              <a:t>Three things at once that nobody else does together.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1828800" cy="12700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889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Itineraries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788920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Day-by-day plans that name real places — the café with the rosé awnings on Largo do Carmo, not 'explore the old town'.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39312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50215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502152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Solo and couple travellers paired against a measurable compatibility surface — not a free-text bio.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52544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21538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Social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215384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192 LLM-designed synthetic travellers post, open trips, and message real users from day 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SONDER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868680"/>
            <a:ext cx="73152" cy="73152"/>
          </a:xfrm>
          <a:prstGeom prst="ellipse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8412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320">
                <a:solidFill>
                  <a:srgbClr val="D4B686"/>
                </a:solidFill>
                <a:latin typeface="Helvetica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 i="1">
                <a:solidFill>
                  <a:srgbClr val="F4EDE0"/>
                </a:solidFill>
                <a:latin typeface="Georgia"/>
              </a:rPr>
              <a:t>Four cleanly separated service planes.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1828800" cy="12700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889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788920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React + Vite served from Cloudflare's global edge. Catch-all Pages Function proxies every /api/* to the backend.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39312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50215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502152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FastAPI on Render. Single process handles REST, SSE, WebSockets, and the synthetic-agents loop in one lifespan.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52544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21538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Language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215384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Anthropic Claude primary, OpenAI fallback. Small tier for fast persona voice, large tier for deep generation, validator tier on either side.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65776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92861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Data stores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928616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Pinecone for vectors, Firestore for operational state, Firebase Storage for binary assets, all split by access pattern.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SONDER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868680"/>
            <a:ext cx="73152" cy="73152"/>
          </a:xfrm>
          <a:prstGeom prst="ellipse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8412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320">
                <a:solidFill>
                  <a:srgbClr val="D4B686"/>
                </a:solidFill>
                <a:latin typeface="Helvetica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 i="1">
                <a:solidFill>
                  <a:srgbClr val="F4EDE0"/>
                </a:solidFill>
                <a:latin typeface="Georgia"/>
              </a:rPr>
              <a:t>Three frameworks the system is built 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1828800" cy="12700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889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PPM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788920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Dann (1977), Crompton (1979). 12 dimensions of travel motivation — six push, six pull. Auditable substring keyword matching.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39312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50215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GoEmotions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502152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Demszky et al. (2020). 27 emotion labels used as anchor vectors in our embedding space. Defensible cosine classification.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52544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21538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Signature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215384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Eight-key emotional taxonomy synthesised by the team. Drives private framing for every persona-voiced surface.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SONDER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868680"/>
            <a:ext cx="73152" cy="73152"/>
          </a:xfrm>
          <a:prstGeom prst="ellipse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8412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320">
                <a:solidFill>
                  <a:srgbClr val="D4B686"/>
                </a:solidFill>
                <a:latin typeface="Helvetica"/>
              </a:rPr>
              <a:t>VECTOR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 i="1">
                <a:solidFill>
                  <a:srgbClr val="F4EDE0"/>
                </a:solidFill>
                <a:latin typeface="Georgia"/>
              </a:rPr>
              <a:t>One Pinecone index, three namespaces, unified embedding space.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1828800" cy="12700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889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Destinations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788920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Hand-curated ~50 cities. Embedded text describes what each place feels like, not just facts.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39312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50215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Activities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502152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~500 real venues, per-destination. Cosine retrieval anchored on the user's persona and emotional signature.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52544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21538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Cotravellers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215384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192 LLM-designed synthetic personas + 18 couples. Same vector space so cross-namespace queries are coherent.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65776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92861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Embedding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928616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OpenAI text-embedding-3-small, 1536 dimensions. One model means all corpora share the same geometry.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SONDER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868680"/>
            <a:ext cx="73152" cy="73152"/>
          </a:xfrm>
          <a:prstGeom prst="ellipse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8412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320">
                <a:solidFill>
                  <a:srgbClr val="D4B686"/>
                </a:solidFill>
                <a:latin typeface="Helvetica"/>
              </a:rPr>
              <a:t>MODEL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 i="1">
                <a:solidFill>
                  <a:srgbClr val="F4EDE0"/>
                </a:solidFill>
                <a:latin typeface="Georgia"/>
              </a:rPr>
              <a:t>Eight distinct models, each chosen for its task profile.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1828800" cy="12700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889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Claude Haiku 4.5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788920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Small-tier conversational surfaces — chat, openers, classifiers, why-this explanations.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39312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50215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Claude Sonnet 4.6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502152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Large-tier generative surfaces — itinerary generation, complex refinement.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52544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21538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OpenAI GPT-4o family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215384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Per-tier fallback when Anthropic is unavailable. Per-provider model ids prevent cross-provider misroutes.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65776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92861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text-embedding-3-small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928616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All retrieval embeddings, 1536-dim.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779008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64184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gpt-image-1, ElevenLabs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641848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Synthetic-persona portraits at seed time; persona voice text-to-speech for chat playback.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SONDER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868680"/>
            <a:ext cx="73152" cy="73152"/>
          </a:xfrm>
          <a:prstGeom prst="ellipse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8412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320">
                <a:solidFill>
                  <a:srgbClr val="D4B686"/>
                </a:solidFill>
                <a:latin typeface="Helvetica"/>
              </a:rPr>
              <a:t>ITINERARY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 i="1">
                <a:solidFill>
                  <a:srgbClr val="F4EDE0"/>
                </a:solidFill>
                <a:latin typeface="Georgia"/>
              </a:rPr>
              <a:t>Retrieval-grounded, validator-gated, streamed day-by-day.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1828800" cy="12700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889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Information starvation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788920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Three persona pipelines run in parallel — embedder, GoEmotions, dimension labeller — each blind to the others.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39312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50215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Hard pre-filters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502152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Budget feasibility, avoid-list veto, must-haves all enforced before re-ranking.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52544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21538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Streaming 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215384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Forward-only JSON parser yields each day the moment its brace closes — user sees Day 1 in 15s while Day 7 is still generating.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65776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92861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Validator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928616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Seven critic categories. Failed outputs go through up-to-three refinement attempts with fresh embeddings.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SONDER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868680"/>
            <a:ext cx="73152" cy="73152"/>
          </a:xfrm>
          <a:prstGeom prst="ellipse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8412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320">
                <a:solidFill>
                  <a:srgbClr val="D4B686"/>
                </a:solidFill>
                <a:latin typeface="Helvetica"/>
              </a:rPr>
              <a:t>CO-TRAVELLER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 i="1">
                <a:solidFill>
                  <a:srgbClr val="F4EDE0"/>
                </a:solidFill>
                <a:latin typeface="Georgia"/>
              </a:rPr>
              <a:t>A calibrated probability — not a uniform cosine.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1828800" cy="12700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889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Feature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788920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Ten reusable scoring functions across cosine, persona overlap, emotional signature, pace, budget, interests.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39312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50215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Hard safety filters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502152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Travel-style and same-gender (solo) enforced before re-ranking. Couples never see solo personas.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52544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21538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Score-as-probability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215384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Score 0.6 honestly means roughly 60% chance the matched persona accepts. Denial becomes meaningful.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65776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92861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Equal-weight priors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928616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1/N across features. Honest about uncertainty; every shown candidate is logged for phase-two gradient learning.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SONDER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868680"/>
            <a:ext cx="73152" cy="73152"/>
          </a:xfrm>
          <a:prstGeom prst="ellipse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8412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320">
                <a:solidFill>
                  <a:srgbClr val="D4B686"/>
                </a:solidFill>
                <a:latin typeface="Helvetica"/>
              </a:rPr>
              <a:t>VALIDATOR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 i="1">
                <a:solidFill>
                  <a:srgbClr val="F4EDE0"/>
                </a:solidFill>
                <a:latin typeface="Georgia"/>
              </a:rPr>
              <a:t>Five critic prompts that keep personas in character.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1828800" cy="12700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889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Assistant-voice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788920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'How can I help you?' caught before it reaches the user.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39312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50215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AI / tooling leakage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502152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'As an AI', 'I'm a language model' blocked.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52544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21538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Memory contradictions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215384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Regex on chat history catches personas claiming trips they just denied.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65776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92861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Token-level failures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928616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Empty generations, repetition stutters, malformed JSON.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779008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64184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Taxonomy leakage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641848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Persona uses 'push' or 'pull' as words — caught and rewritten.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SONDER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868680"/>
            <a:ext cx="73152" cy="73152"/>
          </a:xfrm>
          <a:prstGeom prst="ellipse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8412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320">
                <a:solidFill>
                  <a:srgbClr val="D4B686"/>
                </a:solidFill>
                <a:latin typeface="Helvetica"/>
              </a:rPr>
              <a:t>LEARNING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 i="1">
                <a:solidFill>
                  <a:srgbClr val="F4EDE0"/>
                </a:solidFill>
                <a:latin typeface="Georgia"/>
              </a:rPr>
              <a:t>User feedback applies weight penalties; the system re-runs.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1828800" cy="12700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889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Explicit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788920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'Cheaper' maps to budget-fit features. 'Less packed' maps to pace. Decay across turns prevents oscillation.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39312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50215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Self-correction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502152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The generation pipeline re-runs end-to-end with updated weights. The system literally re-prices its own previous recommendation.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52544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21538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Implicit chat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215384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Sarcasm-aware, negation-aware scanner re-ranks the candidate after every chat message.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65776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92861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Auditable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928616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Every revision turn records feedback, weight delta, dropped + added titles, validator verdict.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SONDER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868680"/>
            <a:ext cx="73152" cy="73152"/>
          </a:xfrm>
          <a:prstGeom prst="ellipse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8412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320">
                <a:solidFill>
                  <a:srgbClr val="D4B686"/>
                </a:solidFill>
                <a:latin typeface="Helvetica"/>
              </a:rPr>
              <a:t>REAL-TIME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 i="1">
                <a:solidFill>
                  <a:srgbClr val="F4EDE0"/>
                </a:solidFill>
                <a:latin typeface="Georgia"/>
              </a:rPr>
              <a:t>WebSockets for conversation; Firestore listeners for state.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1828800" cy="12700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889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First-message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788920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Tokens go in the first JSON message after handshake — never in query strings. Cleaner audit trail.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39312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50215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TTL-derived presence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502152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30-second pings; presence is (now − last_seen) &lt; 90s, not a boolean flag that goes stale on disconnect.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52544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21538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Firestore listeners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215384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Shared-itinerary edits propagate to both participants in milliseconds via the native subscription API.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65776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92861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Modular boundaries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928616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Four team-owned folders with strict import boundaries. Schema changes don't break LLM calls.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SONDER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868680"/>
            <a:ext cx="73152" cy="73152"/>
          </a:xfrm>
          <a:prstGeom prst="ellipse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8412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320">
                <a:solidFill>
                  <a:srgbClr val="D4B686"/>
                </a:solidFill>
                <a:latin typeface="Helvetica"/>
              </a:rPr>
              <a:t>SHARED ITINERARY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 i="1">
                <a:solidFill>
                  <a:srgbClr val="F4EDE0"/>
                </a:solidFill>
                <a:latin typeface="Georgia"/>
              </a:rPr>
              <a:t>Two travellers plan one trip together, mediated by the persona.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1828800" cy="12700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889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Propose-counter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788920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No hard reject — the persona must accept or counter. Negotiation always moves forward.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39312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50215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Reason-in-message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502152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Every counterproposal carries a brief conversational reason. Counters without reasons are caught by the validator.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52544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21538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Optimistic locking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215384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Every write checks client_version. 409 on mismatch; client re-fetches and retries.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65776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92861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Token-Jaccard dedupe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928616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Counters can't recycle previously-rejected activities. If the LLM tries, we flip the verdict to accept.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SONDER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868680"/>
            <a:ext cx="73152" cy="73152"/>
          </a:xfrm>
          <a:prstGeom prst="ellipse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8412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320">
                <a:solidFill>
                  <a:srgbClr val="D4B686"/>
                </a:solidFill>
                <a:latin typeface="Helvetica"/>
              </a:rPr>
              <a:t>SYNTHETIC POPULATION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 i="1">
                <a:solidFill>
                  <a:srgbClr val="F4EDE0"/>
                </a:solidFill>
                <a:latin typeface="Georgia"/>
              </a:rPr>
              <a:t>192 LLM-designed personas, blind-writer pipeline.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1828800" cy="12700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889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Diversity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788920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16 cities × 3 age buckets × 2 genders × 2 per cell. 50/50 gender split hard-locked.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39312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50215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Two-stage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502152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Writer LLM gets only city, age, gender. Inferrer assigns PPM dimensions and emotional signature blind to the writer's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52544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21538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Stylised portraits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215384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gpt-image-1 painterly outputs — explicitly not photorealistic, biased that way for the 'Sonder Curated' disclosure.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65776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92861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Backfill 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928616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Schema-only updates patch metadata via index.update without re-paying LLM cost. Pattern reused for future fields.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SONDER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868680"/>
            <a:ext cx="73152" cy="73152"/>
          </a:xfrm>
          <a:prstGeom prst="ellipse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8412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320">
                <a:solidFill>
                  <a:srgbClr val="D4B686"/>
                </a:solidFill>
                <a:latin typeface="Helvetica"/>
              </a:rPr>
              <a:t>APPROVE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 i="1">
                <a:solidFill>
                  <a:srgbClr val="F4EDE0"/>
                </a:solidFill>
                <a:latin typeface="Georgia"/>
              </a:rPr>
              <a:t>The trip you locked in deserves a moment.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1828800" cy="12700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889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Ken-Burns montage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788920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Five destination photos cycle every 1.2 seconds, each crossfading with a slow zoom.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39312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50215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Typographic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502152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LOCKED IN tracks out → COUNTRY drops in → CITY slams from 1.55x scale + 16px blur to 1x / blur 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52544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21538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Gold-dust particles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215384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Drift top-to-bottom under a cinematic vignette. Trailer cadence, not browser tab.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65776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92861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Co-traveller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928616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After the reveal, asks if you want to plan with someone. Yes → matching; no → dashboard.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SONDER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868680"/>
            <a:ext cx="73152" cy="73152"/>
          </a:xfrm>
          <a:prstGeom prst="ellipse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8412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320">
                <a:solidFill>
                  <a:srgbClr val="D4B686"/>
                </a:solidFill>
                <a:latin typeface="Helvetica"/>
              </a:rPr>
              <a:t>GROUP-STYLE FILTERING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 i="1">
                <a:solidFill>
                  <a:srgbClr val="F4EDE0"/>
                </a:solidFill>
                <a:latin typeface="Georgia"/>
              </a:rPr>
              <a:t>Solo, couple, family, friends are four different products.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1828800" cy="12700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889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Solo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788920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Counter-seating venues, walking distance, 1-2 meet-others activities. Same-gender hard filter on matching.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39312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50215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Couple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502152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Every overnight private. Tables for two. At least one slow shared activity per 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52544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21538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Family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215384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Assumes kids: kids menus, dinner by 7pm, mid-day reset, no clubs. Matching disabled — they have their party.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65776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92861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Friends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928616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One-table reservations for N, split-and-rejoin activities, apartment over hotel rooms. Matching disabled.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SONDER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868680"/>
            <a:ext cx="73152" cy="73152"/>
          </a:xfrm>
          <a:prstGeom prst="ellipse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8412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320">
                <a:solidFill>
                  <a:srgbClr val="D4B686"/>
                </a:solidFill>
                <a:latin typeface="Helvetica"/>
              </a:rPr>
              <a:t>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 i="1">
                <a:solidFill>
                  <a:srgbClr val="F4EDE0"/>
                </a:solidFill>
                <a:latin typeface="Georgia"/>
              </a:rPr>
              <a:t>Sentry and PostHog — deliberately separate tools.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1828800" cy="12700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889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Sentry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788920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Errors only. Filter drops 'Failed to fetch' TypeErrors and expected 4xx so the feed stays signal-dense.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39312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50215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PostHog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502152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Product analytics. Five top-level families: satisfaction, retrieval quality, response quality, hallucination, completion funnel.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52544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21538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Validator telemetry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215384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First-try approval, repair count, semantic-genericity score. Continuous signal catches drift weeks early.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65776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92861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Feature stats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928616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Per-feature distribution observer catches silent scale domination before it shows up as flat engagement.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SONDER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868680"/>
            <a:ext cx="73152" cy="73152"/>
          </a:xfrm>
          <a:prstGeom prst="ellipse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8412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320">
                <a:solidFill>
                  <a:srgbClr val="D4B686"/>
                </a:solidFill>
                <a:latin typeface="Helvetica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 i="1">
                <a:solidFill>
                  <a:srgbClr val="F4EDE0"/>
                </a:solidFill>
                <a:latin typeface="Georgia"/>
              </a:rPr>
              <a:t>Operational independence at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1828800" cy="12700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7889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Cloudflare 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788920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Global edge. SPA on a single domain with a catch-all Pages Function proxying /api/*.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39312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50215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Render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502152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Long-running FastAPI container. Auto-deploy from main, TLS termination, health checks.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52544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21538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Multi-provider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215384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Per-tier LLM provider preference with per-provider model ids — no cross-provider model id misroutes.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65776"/>
            <a:ext cx="54864" cy="54864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92861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D4B686"/>
                </a:solidFill>
                <a:latin typeface="Georgia"/>
              </a:rPr>
              <a:t>Failure isolation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928616"/>
            <a:ext cx="8442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4EDE0"/>
                </a:solidFill>
                <a:latin typeface="Helvetica"/>
              </a:rPr>
              <a:t>Cloudflare incident? Backend stays reachable. Anthropic rate-limited? OpenAI picks up. Every layer replaceable independently.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SONDER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3410712" y="2221993"/>
            <a:ext cx="932688" cy="603504"/>
          </a:xfrm>
          <a:prstGeom prst="rtTriangle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38144" y="2770632"/>
            <a:ext cx="932688" cy="603504"/>
          </a:xfrm>
          <a:prstGeom prst="rtTriangle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15968" y="2392071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1">
                <a:solidFill>
                  <a:srgbClr val="F4EDE0"/>
                </a:solidFill>
                <a:latin typeface="Georgia"/>
              </a:rPr>
              <a:t>Sonder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1">
                <a:solidFill>
                  <a:srgbClr val="F4EDE0"/>
                </a:solidFill>
                <a:latin typeface="Georgia"/>
              </a:rPr>
              <a:t>Travel, together.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663440"/>
            <a:ext cx="2286000" cy="12700"/>
          </a:xfrm>
          <a:prstGeom prst="rect">
            <a:avLst/>
          </a:prstGeom>
          <a:solidFill>
            <a:srgbClr val="D4B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360">
                <a:solidFill>
                  <a:srgbClr val="D4B686"/>
                </a:solidFill>
                <a:latin typeface="Helvetica"/>
              </a:rPr>
              <a:t>BUILT BY A TEAM TIRED OF TRIP-PLANNING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0352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9A08D"/>
                </a:solidFill>
                <a:latin typeface="Helvetica"/>
              </a:rPr>
              <a:t>github.com/shreyast36/sonder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SONDER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320">
                <a:solidFill>
                  <a:srgbClr val="6F685A"/>
                </a:solidFill>
                <a:latin typeface="Helvetica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